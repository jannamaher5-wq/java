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27.png"/><Relationship Id="rId6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662" y="4271367"/>
            <a:ext cx="3114675" cy="485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2100708"/>
            <a:ext cx="20193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459" y="2634108"/>
            <a:ext cx="864108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b="0" sz="4050" i="0" u="none">
                <a:solidFill>
                  <a:srgbClr val="FFFFFF"/>
                </a:solidFill>
                <a:latin typeface="Cairo ExtraBold"/>
              </a:rPr>
              <a:t>البرمجة كائنية التوجه (OOP) في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50" y="3524696"/>
            <a:ext cx="32385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Cairo SemiBold"/>
              </a:rPr>
              <a:t>الأسس والمبادئ والتطبيق العملي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275" y="2224533"/>
            <a:ext cx="1714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91262" y="4471392"/>
            <a:ext cx="1362075" cy="28575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Cairo"/>
              </a:rPr>
              <a:t>مهندس البرمجيات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8662" y="4471392"/>
            <a:ext cx="1466850" cy="2857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Cairo"/>
              </a:rPr>
              <a:t>دليل احترافي متكامل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837" y="4538067"/>
            <a:ext cx="1905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2162" y="4538067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233910"/>
            <a:ext cx="5400675" cy="16722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039492"/>
            <a:ext cx="5400675" cy="1413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37" y="2102197"/>
            <a:ext cx="2633662" cy="19506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102197"/>
            <a:ext cx="2633662" cy="19506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9937" y="4186237"/>
            <a:ext cx="2633662" cy="195069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4186237"/>
            <a:ext cx="2633662" cy="195069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44275" y="595312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" y="1549747"/>
            <a:ext cx="56707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Cairo"/>
              </a:rPr>
              <a:t>المبادئ الأربعة الأساسية: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2433935"/>
            <a:ext cx="5250656" cy="400050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المفهوم الأساسي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2929235"/>
            <a:ext cx="500062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Cairo"/>
              </a:rPr>
              <a:t>OOP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اختصار لـ </a:t>
            </a:r>
            <a:r>
              <a:rPr b="1" sz="1275" i="0" u="none">
                <a:solidFill>
                  <a:srgbClr val="CBD5E1"/>
                </a:solidFill>
                <a:latin typeface="Cairo"/>
              </a:rPr>
              <a:t>Object-Oriented Programming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. هي منهجية برمجية تقوم على فكرة "الكائنات" (Objects) التي تحتوي على بيانات (Attributes) وسلوك (Methods).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239517"/>
            <a:ext cx="5250656" cy="4000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الأهداف الرئيسية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734817"/>
            <a:ext cx="50006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تنظيم الكود، زيادة إعادة الاستخدام (Reusability)، وتسهيل الصيانة (Maintainability) في الأنظمة البرمجية الضخمة.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0925" y="2529185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9500" y="4334767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54122" y="3121372"/>
            <a:ext cx="2345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Encapsulation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962" y="3616672"/>
            <a:ext cx="2233612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التغليف وحماية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109" y="3121372"/>
            <a:ext cx="2345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Inheritance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616672"/>
            <a:ext cx="2233612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الوراثة وإعادة الاستخدام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4122" y="5205412"/>
            <a:ext cx="2345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Polymorphism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962" y="5700712"/>
            <a:ext cx="2233612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تعدد الأشكال والمرونة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09" y="5205412"/>
            <a:ext cx="2345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Abstraction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5700712"/>
            <a:ext cx="2233612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التجريد وإخفاء التعقيد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5318" y="2492722"/>
            <a:ext cx="342900" cy="3429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4493" y="2492722"/>
            <a:ext cx="390525" cy="342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2456" y="4576762"/>
            <a:ext cx="428625" cy="3429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5443" y="4576762"/>
            <a:ext cx="428625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27672" y="428625"/>
            <a:ext cx="11221402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ما هي البرمجة كائنية التوجه (OOP)؟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2041921"/>
            <a:ext cx="5777358" cy="36028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232" y="2363390"/>
            <a:ext cx="5023842" cy="1413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232" y="3910012"/>
            <a:ext cx="5023842" cy="1413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2375" y="595312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25257" y="2563415"/>
            <a:ext cx="48549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Class (المخطط)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5257" y="3058715"/>
            <a:ext cx="462379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هو القالب أو المخطط (Blueprint) الذي يُحدد خصائص وسلوك نوع معين من الكائنات.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5257" y="4110037"/>
            <a:ext cx="48549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Object (الكائن)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257" y="4605337"/>
            <a:ext cx="462379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هو </a:t>
            </a:r>
            <a:r>
              <a:rPr b="1" sz="1275" i="0" u="none">
                <a:solidFill>
                  <a:srgbClr val="CBD5E1"/>
                </a:solidFill>
                <a:latin typeface="Cairo"/>
              </a:rPr>
              <a:t>Instance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من الكلاس، أي الكيان الفعلي المُنشأ في الذاكرة والذي يحمل قيمًا حقيقية.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667" y="428625"/>
            <a:ext cx="11261407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الكائن (Object) والكلاس (Class)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2427684"/>
            <a:ext cx="5777358" cy="28313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0950" y="595312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5232" y="2778769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إخفاء التفاصيل الداخلية للكلاس ومنع الوصول المباشر للمتغيرات من خارج الكلاس.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5232" y="3430041"/>
            <a:ext cx="4757142" cy="279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يتم عن طريق تحويل المتغيرات إلى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5232" y="3843337"/>
            <a:ext cx="4757142" cy="279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توفير دوان الوصول والتحكم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5232" y="4256633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Cairo"/>
              </a:rPr>
              <a:t>الفائدة: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حماية بيانات الكائن من التعديل غير المقصود وتطبيق قواعد تحقق (Validation).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3852862"/>
            <a:ext cx="704850" cy="270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7663" y="428625"/>
            <a:ext cx="11291411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مبدأ التغليف (Encapsulation)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2797819"/>
            <a:ext cx="1047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3449091"/>
            <a:ext cx="10477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3439566"/>
            <a:ext cx="704850" cy="27042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3862387"/>
            <a:ext cx="1047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1650" y="3852862"/>
            <a:ext cx="704850" cy="27042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4275683"/>
            <a:ext cx="1047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1849040"/>
            <a:ext cx="5777358" cy="3988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4275" y="595312"/>
            <a:ext cx="3048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5232" y="2768203"/>
            <a:ext cx="475714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تتيح إنشاء كلاس جديد () يعتمد على كلاس موجود 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5232" y="3461444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الكلاس الابن يرث الحقول والطرق من الكلاس الأب مع إمكانية الإضافة والتعديل.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5232" y="4112716"/>
            <a:ext cx="4757142" cy="279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تُستخدم الكلمة المفتاحية لتطبيق الوراثة في Java.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5232" y="4526012"/>
            <a:ext cx="4757142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Cairo"/>
              </a:rPr>
              <a:t>الفائدة: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منع تكرار الكود وتعزيز إعادة الاستخدام.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025" y="4122241"/>
            <a:ext cx="704850" cy="270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672" y="428625"/>
            <a:ext cx="11221402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مبدأ الوراثة (Inheritance)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2787253"/>
            <a:ext cx="1047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2777728"/>
            <a:ext cx="781050" cy="2704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8925" y="3057673"/>
            <a:ext cx="933450" cy="27042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3480494"/>
            <a:ext cx="1047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4131766"/>
            <a:ext cx="1047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4" y="4545062"/>
            <a:ext cx="1047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1945481"/>
            <a:ext cx="5777358" cy="3795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232" y="2363390"/>
            <a:ext cx="5023842" cy="1413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232" y="3910012"/>
            <a:ext cx="5023842" cy="1413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2375" y="595312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25257" y="2563415"/>
            <a:ext cx="48549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1. Compile-time (Overloading)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5257" y="3058715"/>
            <a:ext cx="462379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تعدد الدوال بنفس الاسم داخل نفس الكلاس مع اختلاف في عدد أو نوع المعاملات (Parameters).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5257" y="4110037"/>
            <a:ext cx="48549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2. Runtime (Overriding)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257" y="4605337"/>
            <a:ext cx="462379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إعادة تعريف طريقة موجودة في الكلاس الأب داخل الكلاس الابن بنفس التوقيع.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667" y="428625"/>
            <a:ext cx="11261407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مبدأ تعدد الأشكال (Polymorphism)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2813446"/>
            <a:ext cx="5777358" cy="20597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9050" y="595312"/>
            <a:ext cx="2000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5232" y="2866429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إخفاء تفاصيل التنفيذ المعقدة وإظهار الواجهة (Interface) الخارجية فقط للمستخدم.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5232" y="3517701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Cairo"/>
              </a:rPr>
              <a:t>Abstract Classes: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كلاسات لا يمكن إنشاء Object مباشر منها، وتحتوي على دمج بين الطرق المكتملة والمجردة.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5232" y="4168973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Cairo"/>
              </a:rPr>
              <a:t>Interfaces: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عقد برمجي يحدد مجموعة من الطرق التي يجب على الكلاس تنفيذها.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658" y="428625"/>
            <a:ext cx="11331416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مبدأ التجريد (Abstraction)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2885479"/>
            <a:ext cx="10477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3536751"/>
            <a:ext cx="10477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4188023"/>
            <a:ext cx="1047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5" y="595312"/>
            <a:ext cx="266700" cy="266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2925" y="2257425"/>
            <a:ext cx="11106150" cy="31718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2925" y="2257425"/>
          <a:ext cx="11096623" cy="317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66639"/>
                <a:gridCol w="4496990"/>
                <a:gridCol w="4432994"/>
              </a:tblGrid>
              <a:tr h="528637"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الميزة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Abstract Class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r"/>
                      <a:r>
                        <a:rPr b="1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الكلمات المفتاحية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abstract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r"/>
                      <a:r>
                        <a:rPr b="1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الوراثة / التطبيق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يتم وراثته باستخدام </a:t>
                      </a:r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extends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يتم تنفيذه باستخدام </a:t>
                      </a:r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implements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r"/>
                      <a:r>
                        <a:rPr b="1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الحقول والمتغيرات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يمكن أن تحوي متغيرات عادية، ثوابت، ومختلف المستويات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فقط ثوابت </a:t>
                      </a:r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public static final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r"/>
                      <a:r>
                        <a:rPr b="1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أنواع الطرق (Methods)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تتضمن طرقًا منفذة وطرقًا مجردة (Abstract)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طرق مجردة، وطرق افتراضية </a:t>
                      </a:r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default</a:t>
                      </a:r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 بدءًا من Java 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28640">
                <a:tc>
                  <a:txBody>
                    <a:bodyPr/>
                    <a:lstStyle/>
                    <a:p>
                      <a:pPr algn="r"/>
                      <a:r>
                        <a:rPr b="1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الوراثة المتعددة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Java لا تدعم الوراثة المتعددة للكلاسات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الكلاس يمكنه تنفيذ أكثر من Interface في نفس الوقت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477672" y="2828925"/>
            <a:ext cx="2166639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80682" y="2828925"/>
            <a:ext cx="449699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7687" y="2828925"/>
            <a:ext cx="4432994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77672" y="3357562"/>
            <a:ext cx="2166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80682" y="3357562"/>
            <a:ext cx="44969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687" y="3357562"/>
            <a:ext cx="4432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77672" y="3871912"/>
            <a:ext cx="2166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0682" y="3871912"/>
            <a:ext cx="44969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7687" y="3871912"/>
            <a:ext cx="4432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77672" y="4386262"/>
            <a:ext cx="2166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0682" y="4386262"/>
            <a:ext cx="44969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7687" y="4386262"/>
            <a:ext cx="4432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77672" y="4900612"/>
            <a:ext cx="2166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0682" y="4900612"/>
            <a:ext cx="44969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7687" y="4900612"/>
            <a:ext cx="4432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77672" y="5414962"/>
            <a:ext cx="2166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0682" y="5414962"/>
            <a:ext cx="44969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7687" y="5414962"/>
            <a:ext cx="4432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172" y="3000375"/>
            <a:ext cx="781050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982" y="3000375"/>
            <a:ext cx="857250" cy="2381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8372" y="3514725"/>
            <a:ext cx="704850" cy="2381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6107" y="3514725"/>
            <a:ext cx="933450" cy="2381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3707" y="4029075"/>
            <a:ext cx="1619250" cy="2381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7982" y="4543425"/>
            <a:ext cx="704850" cy="2381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7667" y="428625"/>
            <a:ext cx="11261407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الفرق بين Abstract Class و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2331243"/>
            <a:ext cx="5777358" cy="3024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4275" y="595312"/>
            <a:ext cx="3048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5232" y="2918668"/>
            <a:ext cx="4757142" cy="279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دالة خاصة يُستدعى تلقائيًا عند إنشاء كائن جديد بـ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5232" y="3331964"/>
            <a:ext cx="4757142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يحمل </a:t>
            </a:r>
            <a:r>
              <a:rPr b="1" sz="1275" i="0" u="none">
                <a:solidFill>
                  <a:srgbClr val="CBD5E1"/>
                </a:solidFill>
                <a:latin typeface="Cairo"/>
              </a:rPr>
              <a:t>نفس اسم الكلاس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تماماً، ولا يمتلك نوع إرجاع (حتى void).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5232" y="3724275"/>
            <a:ext cx="4757142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يُستخدم لتهيئية قيم المتغيرات عند بدء الكائن.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5232" y="4116585"/>
            <a:ext cx="475714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يمكن عمل </a:t>
            </a:r>
            <a:r>
              <a:rPr b="1" sz="1275" i="0" u="none">
                <a:solidFill>
                  <a:srgbClr val="CBD5E1"/>
                </a:solidFill>
                <a:latin typeface="Cairo"/>
              </a:rPr>
              <a:t>Constructor Overloading</a:t>
            </a:r>
            <a:r>
              <a:rPr b="0" sz="1275" i="0" u="none">
                <a:solidFill>
                  <a:srgbClr val="CBD5E1"/>
                </a:solidFill>
                <a:latin typeface="Cairo"/>
              </a:rPr>
              <a:t> بتقديم أكثر من باني بمعاملات مختلفة.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672" y="428625"/>
            <a:ext cx="11221402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الـ Constructor في Java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2937718"/>
            <a:ext cx="10477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350" y="2928193"/>
            <a:ext cx="400050" cy="27042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3351014"/>
            <a:ext cx="10477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3743325"/>
            <a:ext cx="1047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4" y="4135635"/>
            <a:ext cx="1047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73" y="2523976"/>
            <a:ext cx="5777358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232" y="2352823"/>
            <a:ext cx="5023842" cy="1413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232" y="3899445"/>
            <a:ext cx="5023842" cy="14342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2375" y="595312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25257" y="3048148"/>
            <a:ext cx="462379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تشير إلى الكائن الحالي، وتُستخدم عادة لتمييز متغيرات الكلاس (Instance Variables) عن المتغيرات المحلية (Local Variables).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5257" y="4594770"/>
            <a:ext cx="4623792" cy="538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تشير إلى الكلاس الأب مباشرة، وتُستخدم لاستدعاء الباني للأب أو الوصول لطرق الأب.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2667148"/>
            <a:ext cx="476250" cy="23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6600" y="4213770"/>
            <a:ext cx="552450" cy="238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4863256"/>
            <a:ext cx="704850" cy="2704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7667" y="428625"/>
            <a:ext cx="11261407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الكلمة المفتاحية this و super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63390"/>
            <a:ext cx="5400675" cy="14132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910012"/>
            <a:ext cx="5400675" cy="1413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286000"/>
            <a:ext cx="5400675" cy="12882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726656"/>
            <a:ext cx="5400675" cy="16740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2375" y="59531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8425" y="2563415"/>
            <a:ext cx="5250656" cy="400050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ما هو الـ Package؟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058715"/>
            <a:ext cx="50006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هو مجلد لتنظيم الكلاسات والواجهات ذات الصلة ببعضها بشكل هيكلي نظيف.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4110037"/>
            <a:ext cx="5250656" cy="4000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Cairo"/>
              </a:rPr>
              <a:t>أهمية استخدام الـ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605337"/>
            <a:ext cx="50006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تجنب تضارب الأسماء (Namespace Management)، تنظيم المشروع، وتسهيل التحكم في صلاحيات الوصول.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0925" y="2658665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0" y="420528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7667" y="428625"/>
            <a:ext cx="11261407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الـ Packages وأهميتها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5" y="595312"/>
            <a:ext cx="266700" cy="266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2925" y="2514600"/>
            <a:ext cx="11106150" cy="26574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2925" y="2514600"/>
          <a:ext cx="11096622" cy="2657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51335"/>
                <a:gridCol w="1918096"/>
                <a:gridCol w="1861244"/>
                <a:gridCol w="2671018"/>
                <a:gridCol w="2294929"/>
              </a:tblGrid>
              <a:tr h="531495"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المعدل (Modifier)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نفس الكلاس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نفس الباكدج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كلاس ابن (باكدج آخر)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75" i="0" u="none">
                          <a:solidFill>
                            <a:srgbClr val="38BDF8"/>
                          </a:solidFill>
                          <a:latin typeface="Cairo"/>
                        </a:rPr>
                        <a:t>أي مكان (Global)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private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r"/>
                      <a:r>
                        <a:rPr b="1" sz="1162" i="0" u="none">
                          <a:solidFill>
                            <a:srgbClr val="E2E8F0"/>
                          </a:solidFill>
                          <a:latin typeface="Cairo"/>
                        </a:rPr>
                        <a:t>(default)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protected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r"/>
                      <a:r>
                        <a:rPr b="0" sz="1162" i="0" u="none">
                          <a:solidFill>
                            <a:srgbClr val="E2E8F0"/>
                          </a:solidFill>
                          <a:latin typeface="Cairo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292976" y="3086100"/>
            <a:ext cx="2351335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4880" y="3086100"/>
            <a:ext cx="1918096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13635" y="3086100"/>
            <a:ext cx="1861244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42617" y="3086100"/>
            <a:ext cx="2671018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7687" y="3086100"/>
            <a:ext cx="2294929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92976" y="3614737"/>
            <a:ext cx="23513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4880" y="3614737"/>
            <a:ext cx="19180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13635" y="3614737"/>
            <a:ext cx="18612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2617" y="3614737"/>
            <a:ext cx="26710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7687" y="3614737"/>
            <a:ext cx="22949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92976" y="4129087"/>
            <a:ext cx="23513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4880" y="4129087"/>
            <a:ext cx="19180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13635" y="4129087"/>
            <a:ext cx="18612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2617" y="4129087"/>
            <a:ext cx="26710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7687" y="4129087"/>
            <a:ext cx="22949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92976" y="4643437"/>
            <a:ext cx="23513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4880" y="4643437"/>
            <a:ext cx="19180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13635" y="4643437"/>
            <a:ext cx="18612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42617" y="4643437"/>
            <a:ext cx="26710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7687" y="4643437"/>
            <a:ext cx="22949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2976" y="5157787"/>
            <a:ext cx="23513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4880" y="5157787"/>
            <a:ext cx="19180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13635" y="5157787"/>
            <a:ext cx="18612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42617" y="5157787"/>
            <a:ext cx="26710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7687" y="5157787"/>
            <a:ext cx="22949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785" y="3810000"/>
            <a:ext cx="152400" cy="14763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030" y="3295650"/>
            <a:ext cx="152400" cy="14763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030" y="4838700"/>
            <a:ext cx="152400" cy="14763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785" y="4838700"/>
            <a:ext cx="152400" cy="147637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767" y="4838700"/>
            <a:ext cx="152400" cy="14763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9785" y="4324350"/>
            <a:ext cx="152400" cy="147637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9126" y="3295650"/>
            <a:ext cx="152400" cy="147637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030" y="3810000"/>
            <a:ext cx="152400" cy="147637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8767" y="4324350"/>
            <a:ext cx="152400" cy="147637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9126" y="4324350"/>
            <a:ext cx="152400" cy="147637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126" y="4838700"/>
            <a:ext cx="152400" cy="147637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1030" y="4324350"/>
            <a:ext cx="152400" cy="147637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785" y="3295650"/>
            <a:ext cx="152400" cy="147637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8767" y="3295650"/>
            <a:ext cx="152400" cy="147637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8767" y="3810000"/>
            <a:ext cx="152400" cy="147637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126" y="3810000"/>
            <a:ext cx="152400" cy="147637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0" y="3257550"/>
            <a:ext cx="704850" cy="2381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9126" y="3295650"/>
            <a:ext cx="152400" cy="147637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030" y="3295650"/>
            <a:ext cx="152400" cy="147637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785" y="3295650"/>
            <a:ext cx="152400" cy="147637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8767" y="3295650"/>
            <a:ext cx="152400" cy="14763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126" y="3810000"/>
            <a:ext cx="152400" cy="14763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030" y="3810000"/>
            <a:ext cx="152400" cy="14763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785" y="3810000"/>
            <a:ext cx="152400" cy="14763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8767" y="3810000"/>
            <a:ext cx="152400" cy="14763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0850" y="4286250"/>
            <a:ext cx="857250" cy="2381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9126" y="4324350"/>
            <a:ext cx="152400" cy="147637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1030" y="4324350"/>
            <a:ext cx="152400" cy="147637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9785" y="4324350"/>
            <a:ext cx="152400" cy="147637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8767" y="4324350"/>
            <a:ext cx="152400" cy="147637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39450" y="4800600"/>
            <a:ext cx="628650" cy="238125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126" y="4838700"/>
            <a:ext cx="152400" cy="147637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030" y="4838700"/>
            <a:ext cx="152400" cy="147637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785" y="4838700"/>
            <a:ext cx="152400" cy="147637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767" y="4838700"/>
            <a:ext cx="152400" cy="14763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87667" y="428625"/>
            <a:ext cx="11261407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الـ Access Modifiers (معدلات الوصول)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5" y="1496615"/>
            <a:ext cx="3600450" cy="22705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496615"/>
            <a:ext cx="3600450" cy="22705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496615"/>
            <a:ext cx="3600450" cy="22705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25" y="3919537"/>
            <a:ext cx="3600450" cy="22705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775" y="3919537"/>
            <a:ext cx="3600450" cy="22705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4275" y="595312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68640" y="2296715"/>
            <a:ext cx="33604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Single 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2792015"/>
            <a:ext cx="3200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اجعل كل كلاس مسؤولاً عن وظيفة واحدة محددة فقط لمنع التداخل.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5790" y="2515790"/>
            <a:ext cx="33604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Encapsulation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3011090"/>
            <a:ext cx="3200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اجعل جميع المتغيرات private ووفر Getters/Setters عند الحاجة الفعلية فقط.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2515790"/>
            <a:ext cx="33604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Composition Over Inheritance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011090"/>
            <a:ext cx="3200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فضل التركيب (Composition) على الوراثة المباشرة للحصول على مرونة أعلى.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0" y="4938712"/>
            <a:ext cx="33604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Design via Interfaces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5434012"/>
            <a:ext cx="3200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اكتب كودًا يعتمد على التجريد والـ Interfaces لضمان سهولة التوسع والتحديث.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5790" y="4938712"/>
            <a:ext cx="33604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Cairo"/>
              </a:rPr>
              <a:t>Avoid Deep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800" y="5434012"/>
            <a:ext cx="3200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Cairo"/>
              </a:rPr>
              <a:t>تجنب التوريث المتعدد العميق (Deep Inheritance) لأنه يصعب الصيانة والتتبع.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1734740"/>
            <a:ext cx="3200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Cairo"/>
              </a:rPr>
              <a:t>SRP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687" y="1887140"/>
            <a:ext cx="428625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1887140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6450" y="4310062"/>
            <a:ext cx="3048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0737" y="4310062"/>
            <a:ext cx="390525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7672" y="428625"/>
            <a:ext cx="11221402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أفضل الممارسات (Best Practices) في 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232" y="2138362"/>
            <a:ext cx="5023842" cy="3409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73" y="2427684"/>
            <a:ext cx="5777358" cy="28313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700" y="59531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676" y="428625"/>
            <a:ext cx="11191398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38BDF8"/>
                </a:solidFill>
                <a:latin typeface="Cairo"/>
              </a:rPr>
              <a:t>مثال تطبيقي متكامل (نظام إدارة موظفين)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262" y="4878139"/>
            <a:ext cx="2657475" cy="48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45531" y="2684710"/>
            <a:ext cx="7500937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b="0" sz="4050" i="0" u="none">
                <a:solidFill>
                  <a:srgbClr val="FFFFFF"/>
                </a:solidFill>
                <a:latin typeface="Cairo ExtraBold"/>
              </a:rPr>
              <a:t>شكراً لكم! هل هناك أي أسئلة؟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70548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Cairo SemiBold"/>
              </a:rPr>
              <a:t>الـ OOP ليست مجرد أدوات في لغة Java، بل هي فكر ومنهجية في تصميم الأنظمة القوية والمرنة والمفتاح لبناء البرمجيات المستدامة.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5" y="1722685"/>
            <a:ext cx="66675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1712" y="5078164"/>
            <a:ext cx="1343025" cy="2857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Cairo"/>
              </a:rPr>
              <a:t>Java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7262" y="5078164"/>
            <a:ext cx="1028700" cy="28575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Cairo"/>
              </a:rPr>
              <a:t>Q&amp;A Session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387" y="5144839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62" y="5144839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