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13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20.png"/><Relationship Id="rId14" Type="http://schemas.openxmlformats.org/officeDocument/2006/relationships/image" Target="../media/image5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3.png"/><Relationship Id="rId4" Type="http://schemas.openxmlformats.org/officeDocument/2006/relationships/image" Target="../media/image1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20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7.png"/><Relationship Id="rId4" Type="http://schemas.openxmlformats.org/officeDocument/2006/relationships/image" Target="../media/image45.png"/><Relationship Id="rId5" Type="http://schemas.openxmlformats.org/officeDocument/2006/relationships/image" Target="../media/image78.png"/><Relationship Id="rId6" Type="http://schemas.openxmlformats.org/officeDocument/2006/relationships/image" Target="../media/image13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20.png"/><Relationship Id="rId16" Type="http://schemas.openxmlformats.org/officeDocument/2006/relationships/image" Target="../media/image87.png"/><Relationship Id="rId17" Type="http://schemas.openxmlformats.org/officeDocument/2006/relationships/image" Target="../media/image8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20.png"/><Relationship Id="rId11" Type="http://schemas.openxmlformats.org/officeDocument/2006/relationships/image" Target="../media/image94.png"/><Relationship Id="rId12" Type="http://schemas.openxmlformats.org/officeDocument/2006/relationships/image" Target="../media/image95.png"/><Relationship Id="rId13" Type="http://schemas.openxmlformats.org/officeDocument/2006/relationships/image" Target="../media/image9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7.png"/><Relationship Id="rId4" Type="http://schemas.openxmlformats.org/officeDocument/2006/relationships/image" Target="../media/image4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2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5.png"/><Relationship Id="rId4" Type="http://schemas.openxmlformats.org/officeDocument/2006/relationships/image" Target="../media/image69.png"/><Relationship Id="rId5" Type="http://schemas.openxmlformats.org/officeDocument/2006/relationships/image" Target="../media/image106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2.png"/><Relationship Id="rId4" Type="http://schemas.openxmlformats.org/officeDocument/2006/relationships/image" Target="../media/image13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Relationship Id="rId14" Type="http://schemas.openxmlformats.org/officeDocument/2006/relationships/image" Target="../media/image1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126.png"/><Relationship Id="rId10" Type="http://schemas.openxmlformats.org/officeDocument/2006/relationships/image" Target="../media/image127.png"/><Relationship Id="rId11" Type="http://schemas.openxmlformats.org/officeDocument/2006/relationships/image" Target="../media/image128.png"/><Relationship Id="rId12" Type="http://schemas.openxmlformats.org/officeDocument/2006/relationships/image" Target="../media/image1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Relationship Id="rId11" Type="http://schemas.openxmlformats.org/officeDocument/2006/relationships/image" Target="../media/image137.png"/><Relationship Id="rId12" Type="http://schemas.openxmlformats.org/officeDocument/2006/relationships/image" Target="../media/image138.png"/><Relationship Id="rId13" Type="http://schemas.openxmlformats.org/officeDocument/2006/relationships/image" Target="../media/image139.png"/><Relationship Id="rId14" Type="http://schemas.openxmlformats.org/officeDocument/2006/relationships/image" Target="../media/image140.png"/><Relationship Id="rId15" Type="http://schemas.openxmlformats.org/officeDocument/2006/relationships/image" Target="../media/image141.png"/><Relationship Id="rId16" Type="http://schemas.openxmlformats.org/officeDocument/2006/relationships/image" Target="../media/image1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Relationship Id="rId8" Type="http://schemas.openxmlformats.org/officeDocument/2006/relationships/image" Target="../media/image13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Relationship Id="rId11" Type="http://schemas.openxmlformats.org/officeDocument/2006/relationships/image" Target="../media/image150.png"/><Relationship Id="rId12" Type="http://schemas.openxmlformats.org/officeDocument/2006/relationships/image" Target="../media/image151.png"/><Relationship Id="rId13" Type="http://schemas.openxmlformats.org/officeDocument/2006/relationships/image" Target="../media/image152.png"/><Relationship Id="rId14" Type="http://schemas.openxmlformats.org/officeDocument/2006/relationships/image" Target="../media/image153.png"/><Relationship Id="rId15" Type="http://schemas.openxmlformats.org/officeDocument/2006/relationships/image" Target="../media/image154.png"/><Relationship Id="rId16" Type="http://schemas.openxmlformats.org/officeDocument/2006/relationships/image" Target="../media/image155.png"/><Relationship Id="rId17" Type="http://schemas.openxmlformats.org/officeDocument/2006/relationships/image" Target="../media/image15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3.png"/><Relationship Id="rId6" Type="http://schemas.openxmlformats.org/officeDocument/2006/relationships/image" Target="../media/image159.png"/><Relationship Id="rId7" Type="http://schemas.openxmlformats.org/officeDocument/2006/relationships/image" Target="../media/image20.png"/><Relationship Id="rId8" Type="http://schemas.openxmlformats.org/officeDocument/2006/relationships/image" Target="../media/image160.png"/><Relationship Id="rId9" Type="http://schemas.openxmlformats.org/officeDocument/2006/relationships/image" Target="../media/image16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8245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3512" y="2024211"/>
            <a:ext cx="2566987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747962"/>
            <a:ext cx="4110930" cy="1362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34525" y="6600825"/>
            <a:ext cx="21812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Tajawal Medium"/>
              </a:rPr>
              <a:t>Corporate Enterprise Architecture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6600825"/>
            <a:ext cx="685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Tajawal Medium"/>
              </a:rPr>
              <a:t>Slide 01 of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3955" y="2548086"/>
            <a:ext cx="6166544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0" sz="3900" i="0" u="none">
                <a:solidFill>
                  <a:srgbClr val="FFFFFF"/>
                </a:solidFill>
                <a:latin typeface="Tajawal Black"/>
              </a:rPr>
              <a:t>البرمجة كائنية التوجه في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3955" y="3877716"/>
            <a:ext cx="6166544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Tajawal"/>
              </a:rPr>
              <a:t>دليل معماري وتفصيلي لبناء أنظمة برمجية عالية الكفاءة والقابلية للتوسع (Scalable &amp; Maintainable Systems)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1430" y="2995612"/>
            <a:ext cx="19050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01155" y="2995612"/>
            <a:ext cx="2085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Tajawal"/>
              </a:rPr>
              <a:t>المستوى: </a:t>
            </a:r>
            <a:r>
              <a:rPr b="1" sz="1125" i="0" u="none">
                <a:solidFill>
                  <a:srgbClr val="F8FAFC"/>
                </a:solidFill>
                <a:latin typeface="Tajawal"/>
              </a:rPr>
              <a:t>Masterclass / Advanced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1430" y="3309937"/>
            <a:ext cx="1905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3605" y="3309937"/>
            <a:ext cx="1533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Tajawal"/>
              </a:rPr>
              <a:t>اللغة والمعيار: </a:t>
            </a:r>
            <a:r>
              <a:rPr b="1" sz="1125" i="0" u="none">
                <a:solidFill>
                  <a:srgbClr val="F8FAFC"/>
                </a:solidFill>
                <a:latin typeface="Tajawal"/>
              </a:rPr>
              <a:t>Java SE 17+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1430" y="3624262"/>
            <a:ext cx="1905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72580" y="3624262"/>
            <a:ext cx="2114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Tajawal"/>
              </a:rPr>
              <a:t>الأسلوب: </a:t>
            </a:r>
            <a:r>
              <a:rPr b="1" sz="1125" i="0" u="none">
                <a:solidFill>
                  <a:srgbClr val="F8FAFC"/>
                </a:solidFill>
                <a:latin typeface="Tajawal"/>
              </a:rPr>
              <a:t>Clean Code Architecture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1430" y="3938587"/>
            <a:ext cx="19050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34455" y="3938587"/>
            <a:ext cx="2352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Tajawal"/>
              </a:rPr>
              <a:t>المحاور: </a:t>
            </a:r>
            <a:r>
              <a:rPr b="1" sz="1125" i="0" u="none">
                <a:solidFill>
                  <a:srgbClr val="F8FAFC"/>
                </a:solidFill>
                <a:latin typeface="Tajawal"/>
              </a:rPr>
              <a:t>OOP Pillars &amp; Design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50559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505598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7800" y="381000"/>
            <a:ext cx="64579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01. INTRODUCTION &amp; PARADIGMS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9960"/>
            <a:ext cx="13525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0" y="6605587"/>
            <a:ext cx="21145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571500"/>
            <a:ext cx="6780847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لماذا البرمجة كائنية التوجه؟ (OOP vs Procedural)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6562" y="1544835"/>
            <a:ext cx="492561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البرمجة الإجرائية (Procedural)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1887735"/>
            <a:ext cx="5024437" cy="57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تعتمد على كتابة دوال متعاقبة () تتلاعب ببيانات عامة 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1544835"/>
            <a:ext cx="494561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البرمجة كائنية التوجه (OOP)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1887735"/>
            <a:ext cx="50244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تعتمد على دمج البيانات والسلوكيات ذات الصلة داخل وحدة واحدة تسمى الكائن ().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9500" y="1563885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4400" y="1887735"/>
            <a:ext cx="885825" cy="25732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4625" y="2175271"/>
            <a:ext cx="1143000" cy="2573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3187" y="2605682"/>
            <a:ext cx="4757737" cy="2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ترابط شديد بين الدوال والبيانات ().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3187" y="3007518"/>
            <a:ext cx="4757737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صعوبة بالغة في صيانة وتطوير المشاريع الكبيرة.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87" y="3380779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احتمالية عالية لحدوث آثارا جانبية غير متوقعة () عند تعديل البيانات.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9737" y="1563885"/>
            <a:ext cx="2190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3912" y="2146696"/>
            <a:ext cx="628650" cy="2573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4375" y="2577107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عزل تام للبيانات مع تحكم دقيق في الوصول إليها ().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3237904"/>
            <a:ext cx="4757737" cy="2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قابليّة عالية لإعادة استخدام الكود ().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375" y="3639740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سهولة نمذجة المشاكل الواقعية إلى مكونات برمجية مستقلة ().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3325" y="2624732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3350" y="2605682"/>
            <a:ext cx="1314450" cy="257323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3325" y="3026568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3325" y="3399829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5650" y="3380779"/>
            <a:ext cx="1143000" cy="257323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4512" y="2596157"/>
            <a:ext cx="11430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4762" y="2836068"/>
            <a:ext cx="1657350" cy="257323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4512" y="3256954"/>
            <a:ext cx="11430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38312" y="3237904"/>
            <a:ext cx="1485900" cy="257323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4512" y="3658790"/>
            <a:ext cx="11430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43312" y="3898701"/>
            <a:ext cx="1828800" cy="2573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278135"/>
            <a:ext cx="3619500" cy="27062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278135"/>
            <a:ext cx="3619500" cy="27062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3619500" cy="270629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14750" y="381000"/>
            <a:ext cx="800100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02. CORE CONCEPTS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9960"/>
            <a:ext cx="15811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48800" y="6605587"/>
            <a:ext cx="2266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Memory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571500"/>
            <a:ext cx="84010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الكلاس والكائن وتخصيص الذاكرة (Class, Object &amp; Memory)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0" y="1544835"/>
            <a:ext cx="305038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الـ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375" y="1887735"/>
            <a:ext cx="3143250" cy="86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هو المخطط الهيكلي التجريدي () الذي يحدد الحقول () والدوال 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4375" y="2845593"/>
            <a:ext cx="3143250" cy="805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مجرد تعريف نوع بيانات جديد () ولا يستهلك مساحة في الـ Heap عند الإعلان عنه.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075" y="1544835"/>
            <a:ext cx="302037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الـ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4375" y="1887735"/>
            <a:ext cx="3143250" cy="86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هو نموذج فعلي () يُبنى داخل הـ Memory أثناء وقت التشغيل () باستخدام المعامل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4375" y="2845593"/>
            <a:ext cx="3143250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يمتلك حالة خاصة () مخزنة بشكل مستقل عن باقي الكائنات.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1544835"/>
            <a:ext cx="30003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إدارة الذاكرة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1887735"/>
            <a:ext cx="3143250" cy="57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تُحفظ المراجع () داخل ذاكرة الـ 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2558057"/>
            <a:ext cx="3143250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بينما تُنشأ الكائنات الفعليّة وتستقر بياناتها كلياً داخل ذاكرة الـ 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4750" y="1563885"/>
            <a:ext cx="1428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3450" y="1887735"/>
            <a:ext cx="885825" cy="257323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0725" y="2175271"/>
            <a:ext cx="628650" cy="257323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250" y="2462807"/>
            <a:ext cx="714375" cy="257323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0" y="3104554"/>
            <a:ext cx="1571625" cy="257323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96175" y="1563885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4050" y="1887735"/>
            <a:ext cx="800100" cy="257323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00625" y="2175271"/>
            <a:ext cx="714375" cy="257323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29325" y="2462807"/>
            <a:ext cx="371475" cy="257323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95975" y="2845593"/>
            <a:ext cx="542925" cy="257323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67125" y="1563885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4900" y="1887735"/>
            <a:ext cx="1743075" cy="257323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47925" y="2175271"/>
            <a:ext cx="542925" cy="257323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33575" y="2817018"/>
            <a:ext cx="1057275" cy="2573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50559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505598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71900" y="381000"/>
            <a:ext cx="79438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03. OBJECT LIFECYCLE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9960"/>
            <a:ext cx="17335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72625" y="6605587"/>
            <a:ext cx="21431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Constructors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1900" y="571500"/>
            <a:ext cx="8341042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دوال البناء ودورة حياة الكائن (Constructors &amp; Initialization)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6562" y="1544835"/>
            <a:ext cx="492561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دوال البناء (Constructors)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1887735"/>
            <a:ext cx="50244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دوال خاصة تُستدعى تلقائياً لحظة تخصيص الذاكرة للكائن بواسطة المعامل لضمان تهيئة حالته الأولية.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1544835"/>
            <a:ext cx="4995624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المرجع المفتاحي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1916310"/>
            <a:ext cx="50244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متغير مرجعي ضمني يشير إلى الكائن الحالي () المنفذ للدالة.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9500" y="1563885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6150" y="2146696"/>
            <a:ext cx="371475" cy="2573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53187" y="2529482"/>
            <a:ext cx="4757737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No-Arg Constructor: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دالة بناء افتراضية بدون معاملات.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3187" y="2902743"/>
            <a:ext cx="4757737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Parameterized Constructor: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تتيح تمرير قيم أولية للحقول فور الإنشاء.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3187" y="3276004"/>
            <a:ext cx="475773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Constructor Overloading: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إمكانية تعريف أكثر من بناء بتوقيعات مختلفة.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7362" y="1578173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3287" y="1544835"/>
            <a:ext cx="533400" cy="257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6837" y="1916310"/>
            <a:ext cx="1485900" cy="2573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4375" y="2558057"/>
            <a:ext cx="475773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Variable Shadowing: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حل مشكلة تشابه أسماء المعاملات مع حقول الكلاس.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3190279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Constructor Chaining: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استدعاء بناء آخر داخل نفس الكلاس عبر لتجنب تكرار كود التهيئة.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3325" y="2548532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3325" y="2921793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3325" y="3295054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4512" y="2577107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4512" y="3209329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86287" y="3449240"/>
            <a:ext cx="885825" cy="2573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0" y="381000"/>
            <a:ext cx="80581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04. PILLAR 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39960"/>
            <a:ext cx="112395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1278135"/>
            <a:ext cx="11239500" cy="2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يُعنى مفهوم </a:t>
            </a:r>
            <a:r>
              <a:rPr b="1" sz="1275" i="0" u="none">
                <a:solidFill>
                  <a:srgbClr val="334155"/>
                </a:solidFill>
                <a:latin typeface="Tajawal"/>
              </a:rPr>
              <a:t>التغليف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بحظر الوصول المباشر لحقول البيانات الداخلية، وتوفير واجهة محددة للوصول إليها لضمان سلامة حالة الكائن 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50" y="1756171"/>
            <a:ext cx="11239500" cy="2247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6250" y="1756171"/>
          <a:ext cx="11229972" cy="224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96182"/>
                <a:gridCol w="1901576"/>
                <a:gridCol w="2137916"/>
                <a:gridCol w="2644229"/>
                <a:gridCol w="1750069"/>
              </a:tblGrid>
              <a:tr h="449580"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FFFFFF"/>
                          </a:solidFill>
                          <a:latin typeface="Tajawal"/>
                        </a:rPr>
                        <a:t>محدد الوصول (Modifier)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FFFFFF"/>
                          </a:solidFill>
                          <a:latin typeface="Tajawal"/>
                        </a:rPr>
                        <a:t>داخل نفس الكلاس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FFFFFF"/>
                          </a:solidFill>
                          <a:latin typeface="Tajawal"/>
                        </a:rPr>
                        <a:t>داخل نفس الـ Package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FFFFFF"/>
                          </a:solidFill>
                          <a:latin typeface="Tajawal"/>
                        </a:rPr>
                        <a:t>الفئات الموروثة (Subclasses)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FFFFFF"/>
                          </a:solidFill>
                          <a:latin typeface="Tajawal"/>
                        </a:rPr>
                        <a:t>عبر كامل التطبيق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private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لا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لا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لا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default (Package-Private)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لا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لا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protected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لا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نعم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534525" y="6605587"/>
            <a:ext cx="21812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Encapsulation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71500"/>
            <a:ext cx="8461057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التغليف وحماية البيانات (Encapsulation &amp; Access Modifiers)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2125" y="1278135"/>
            <a:ext cx="1400175" cy="2573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914804" y="2646759"/>
            <a:ext cx="27961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13227" y="2646759"/>
            <a:ext cx="1901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5311" y="2646759"/>
            <a:ext cx="2137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31082" y="2646759"/>
            <a:ext cx="26442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1012" y="2646759"/>
            <a:ext cx="1750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4804" y="3094434"/>
            <a:ext cx="27961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3227" y="3094434"/>
            <a:ext cx="1901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5311" y="3094434"/>
            <a:ext cx="2137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31082" y="3094434"/>
            <a:ext cx="26442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1012" y="3094434"/>
            <a:ext cx="1750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804" y="3542109"/>
            <a:ext cx="27961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13227" y="3542109"/>
            <a:ext cx="1901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75311" y="3542109"/>
            <a:ext cx="2137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31082" y="3542109"/>
            <a:ext cx="26442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1012" y="3542109"/>
            <a:ext cx="1750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14804" y="3989784"/>
            <a:ext cx="27961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13227" y="3989784"/>
            <a:ext cx="1901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75311" y="3989784"/>
            <a:ext cx="2137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31082" y="3989784"/>
            <a:ext cx="26442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1012" y="3989784"/>
            <a:ext cx="1750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7952" y="3680221"/>
            <a:ext cx="1238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4857" y="2337196"/>
            <a:ext cx="1047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0036" y="3232546"/>
            <a:ext cx="12382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9086" y="2337196"/>
            <a:ext cx="1047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7952" y="3232546"/>
            <a:ext cx="12382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4857" y="3232546"/>
            <a:ext cx="1047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807" y="3680221"/>
            <a:ext cx="12382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0036" y="3680221"/>
            <a:ext cx="12382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7952" y="2784871"/>
            <a:ext cx="12382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002" y="2337196"/>
            <a:ext cx="10477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9529" y="2337196"/>
            <a:ext cx="12382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4857" y="2784871"/>
            <a:ext cx="104775" cy="1428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529" y="2784871"/>
            <a:ext cx="123825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529" y="3680221"/>
            <a:ext cx="123825" cy="1428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9086" y="2784871"/>
            <a:ext cx="104775" cy="1428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9529" y="3232546"/>
            <a:ext cx="123825" cy="1428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87075" y="2327671"/>
            <a:ext cx="647700" cy="1905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9529" y="2337196"/>
            <a:ext cx="123825" cy="1428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002" y="2337196"/>
            <a:ext cx="104775" cy="1428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9086" y="2337196"/>
            <a:ext cx="104775" cy="1428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4857" y="2337196"/>
            <a:ext cx="104775" cy="1428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15475" y="2775346"/>
            <a:ext cx="2019300" cy="1905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529" y="2784871"/>
            <a:ext cx="123825" cy="1428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7952" y="2784871"/>
            <a:ext cx="123825" cy="1428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9086" y="2784871"/>
            <a:ext cx="104775" cy="14287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4857" y="2784871"/>
            <a:ext cx="104775" cy="14287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34675" y="3223021"/>
            <a:ext cx="800100" cy="1905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9529" y="3232546"/>
            <a:ext cx="123825" cy="142875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7952" y="3232546"/>
            <a:ext cx="123825" cy="142875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0036" y="3232546"/>
            <a:ext cx="123825" cy="142875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4857" y="3232546"/>
            <a:ext cx="104775" cy="14287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63275" y="3670696"/>
            <a:ext cx="571500" cy="1905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529" y="3680221"/>
            <a:ext cx="123825" cy="142875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7952" y="3680221"/>
            <a:ext cx="123825" cy="142875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0036" y="3680221"/>
            <a:ext cx="123825" cy="142875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807" y="3680221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686469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686469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287660"/>
            <a:ext cx="5481637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95675" y="381000"/>
            <a:ext cx="822007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04. PILLAR I - CODE IMPLEMENTATION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39960"/>
            <a:ext cx="10477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39250" y="6605587"/>
            <a:ext cx="2476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Encapsulation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5675" y="571500"/>
            <a:ext cx="8631078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تطبيق عملي: نموذج التغليف المحكم (Encapsulation Pattern)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8937" y="1544835"/>
            <a:ext cx="497562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قواعد التطبيق المعماري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87125" y="1563885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53187" y="1887735"/>
            <a:ext cx="4757737" cy="2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تحديد الحقول بـ يمنع التلاعب الخارجي بالحالة مباشرة.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2289571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تطبيق الفحص والتأكد من البيانات () داخل الـ Setters لمنع القيم المرفوضة.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3187" y="2950368"/>
            <a:ext cx="4757737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إتاحة القراءة المقيدة عبر Getters فقط للحقول التي تتطلب ذلك.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" y="1363860"/>
            <a:ext cx="106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BankAccount.java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3325" y="1906785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7375" y="1887735"/>
            <a:ext cx="714375" cy="257323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3325" y="2308621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0" y="2289571"/>
            <a:ext cx="1571625" cy="257323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3325" y="2969418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50559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505598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2975" y="381000"/>
            <a:ext cx="696277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05. PILLAR II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9960"/>
            <a:ext cx="15811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58350" y="6605587"/>
            <a:ext cx="20574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Inheritance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975" y="571500"/>
            <a:ext cx="7310913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الوراثة وهيكلة الكلاسات (Inheritance Architecture)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7512" y="1544835"/>
            <a:ext cx="4945618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مفهوم الوراثة 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1916310"/>
            <a:ext cx="5024437" cy="57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آلية تسمح لكلاس جديد () بوراثة الخصائص والدوال المتاحة من كلاس آخر 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1544835"/>
            <a:ext cx="494561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مشكلة Diamond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1887735"/>
            <a:ext cx="5024437" cy="805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لا تدعم Java الوراثة المتعددة بين الكلاسات () لتجنب الغموض الذي يحدث عند وراثة دالتين بنفس الاسم من كلاسين مختلفين.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2836068"/>
            <a:ext cx="5024437" cy="2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يتم حل هذه الإشكالية في Java بشكل كامل عبر استخدام الـ 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8550" y="1578173"/>
            <a:ext cx="2190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6825" y="1544835"/>
            <a:ext cx="847725" cy="2571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0" y="1916310"/>
            <a:ext cx="800100" cy="257323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1225" y="2203846"/>
            <a:ext cx="971550" cy="2573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53187" y="2586632"/>
            <a:ext cx="4757737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تمثيل علاقة منطقية من نوع </a:t>
            </a:r>
            <a:r>
              <a:rPr b="1" sz="1275" i="0" u="none">
                <a:solidFill>
                  <a:srgbClr val="334155"/>
                </a:solidFill>
                <a:latin typeface="Tajawal"/>
              </a:rPr>
              <a:t>IS-A Relationship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3187" y="2959893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إعادة استخدام الشفرة البرمجية والتخلص من التكرار ().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3187" y="3620690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استدعاء بناء الكلاس الأب فوراً باستخدام الكلمة المفتاحية 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9737" y="1563885"/>
            <a:ext cx="2190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67037" y="2146696"/>
            <a:ext cx="2771775" cy="257323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6312" y="2836068"/>
            <a:ext cx="971550" cy="257323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63325" y="2605682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63325" y="2978943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24625" y="2959893"/>
            <a:ext cx="1228725" cy="257323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63325" y="3639740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57950" y="3620690"/>
            <a:ext cx="971550" cy="257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64405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64405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287660"/>
            <a:ext cx="5481637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3000" y="381000"/>
            <a:ext cx="67627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05. PILLAR II - CODE IMPLEMENTATION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39960"/>
            <a:ext cx="10477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63075" y="6605587"/>
            <a:ext cx="23526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Inheritance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571500"/>
            <a:ext cx="7100887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تطبيق عملي: الوراثة وتعديل السلوك (Overriding)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9887" y="1544835"/>
            <a:ext cx="49956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ملاحظات التنفيذ البرمجي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6175" y="1563885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53187" y="1887735"/>
            <a:ext cx="4757737" cy="57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استخدام التنويه المفتاحي يضمن تحقق المترجم () من صحة توقيع الدالة الموروثة.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2577107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الكلمة المفتاحية تتيح تنفيذ سلوك الأب أولاً ثم إضافة منطق العلاوة الخاص بـ Manager.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" y="1363860"/>
            <a:ext cx="1466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EmployeeHierarchy.java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3325" y="1906785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8700" y="1887735"/>
            <a:ext cx="885825" cy="257323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0825" y="2175271"/>
            <a:ext cx="800100" cy="257323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3325" y="2596157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0050" y="2577107"/>
            <a:ext cx="2085975" cy="257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50559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505598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34125" y="381000"/>
            <a:ext cx="538162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06. PILLAR III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9960"/>
            <a:ext cx="21907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05950" y="6605587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Polymorphism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571500"/>
            <a:ext cx="5650706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تعدد الأشكال والمرونة (Polymorphism)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8937" y="1544835"/>
            <a:ext cx="497562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Compile-Time Polymorphism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1887735"/>
            <a:ext cx="5024437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يتحقق عن طريق الـ </a:t>
            </a:r>
            <a:r>
              <a:rPr b="1" sz="1275" i="0" u="none">
                <a:solidFill>
                  <a:srgbClr val="334155"/>
                </a:solidFill>
                <a:latin typeface="Tajawal"/>
              </a:rPr>
              <a:t>Method Overloading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داخل نفس الكلاس.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1544835"/>
            <a:ext cx="497562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Runtime Polymorphism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1887735"/>
            <a:ext cx="5024437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يتحقق عن طريق الـ </a:t>
            </a:r>
            <a:r>
              <a:rPr b="1" sz="1275" i="0" u="none">
                <a:solidFill>
                  <a:srgbClr val="334155"/>
                </a:solidFill>
                <a:latin typeface="Tajawal"/>
              </a:rPr>
              <a:t>Method Overriding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بين الكلاسات الموروثة.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7125" y="1563885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3187" y="2241946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تعريف عدة دوال بنفس الاسم ولكن بتوقيعات مختلفة ().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3187" y="2902743"/>
            <a:ext cx="4757737" cy="2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يحدد المترجم الدالة المنفذة أثناء عملية التجميع ().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8312" y="1563885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4375" y="2241946"/>
            <a:ext cx="47577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استدعاء دالة معرفة في الـ Superclass وتحديد النموذج المنفذ لها وفق الكائن الفعلي لحظة التشغيل ().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2902743"/>
            <a:ext cx="4757737" cy="2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يعتمد على الربط المتأخر ().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3325" y="2260996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2125" y="2500907"/>
            <a:ext cx="1828800" cy="257323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3325" y="2921793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4650" y="2902743"/>
            <a:ext cx="1314450" cy="257323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4512" y="2260996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6837" y="2500907"/>
            <a:ext cx="2085975" cy="257323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4512" y="2921793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14512" y="2902743"/>
            <a:ext cx="2000250" cy="2573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686469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686469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287660"/>
            <a:ext cx="5481637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33700" y="381000"/>
            <a:ext cx="87820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06. PILLAR III - CODE IMPLEMENTATION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39960"/>
            <a:ext cx="13525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10675" y="6605587"/>
            <a:ext cx="25050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Polymorphism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3700" y="571500"/>
            <a:ext cx="9221152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تطبيق عملي: المرونة واستبدال الكائنات (Polymorphism Pattern)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1312" y="1544835"/>
            <a:ext cx="50256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فك الارتباط المعماري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3187" y="1887735"/>
            <a:ext cx="5024437" cy="57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يعتمد كلاس على مرجع الواجهة العامة بدلاً من الاعتماد المباشر على التطبيقات التفصيلية.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3187" y="2558057"/>
            <a:ext cx="50244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تتيح هذه الهندسة إضافة وسائل إرسال جديدة مستقبلاً دون الحاجة لتعديل الشفرة القائمة إطلاقاً ().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4750" y="1563885"/>
            <a:ext cx="1428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887735"/>
            <a:ext cx="1743075" cy="25732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8900" y="2175271"/>
            <a:ext cx="1228725" cy="257323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9100" y="2817018"/>
            <a:ext cx="1914525" cy="2573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8175" y="1363860"/>
            <a:ext cx="1400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PolymorphismDemo.java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67225" y="381000"/>
            <a:ext cx="724852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07. PILLAR IV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39960"/>
            <a:ext cx="1123950" cy="2667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6250" y="1325760"/>
            <a:ext cx="11239500" cy="2695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6250" y="1325760"/>
          <a:ext cx="11229974" cy="2695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84573"/>
                <a:gridCol w="4814292"/>
                <a:gridCol w="4831109"/>
              </a:tblGrid>
              <a:tr h="449262"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FFFFFF"/>
                          </a:solidFill>
                          <a:latin typeface="Tajawal"/>
                        </a:rPr>
                        <a:t>وجه المقارنة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FFFFFF"/>
                          </a:solidFill>
                          <a:latin typeface="Tajawal"/>
                        </a:rPr>
                        <a:t>الكلاس التجريدي (Abstract Class)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FFFFFF"/>
                          </a:solidFill>
                          <a:latin typeface="Tajawal"/>
                        </a:rPr>
                        <a:t>الواجهة البرمجية (Interface)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الهدف الأساسي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توفير قاعدة مشتركة وتنفيذ جزئي (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Partial Implementation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تعريف عقد سلوكي كامل (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Behavioral Contract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إنشاء الكائنات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لا يمكن إنشاء كائن منه بـ 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new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لا يمكن إنشاء كائن منها بـ 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new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نوع الوراثة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يدعم الوراثة الأحادية فقط (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Single Inheritance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تعددية الواجهات (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Multiple Interfaces Implementation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حقول البيانات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يمكن احتواء متغيرات حالة عادية (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Instance Fields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جميع الحقول تكون تلقائياً 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public static final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926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الدوال المنفذة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تضم دوال تجريدية ودوال ذات تنفيذ أصلية.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تدعم 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default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 &amp; 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static</a:t>
                      </a:r>
                      <a:r>
                        <a:rPr b="0" sz="1125" i="0" u="none">
                          <a:solidFill>
                            <a:srgbClr val="1E293B"/>
                          </a:solidFill>
                          <a:latin typeface="Tajawal"/>
                        </a:rPr>
                        <a:t> methods بدءاً من Java 8.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58350" y="6605587"/>
            <a:ext cx="20574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7225" y="571500"/>
            <a:ext cx="7610951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التجريد وفصل العقود (Abstract Classes vs Interfaces)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26414" y="2216348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12122" y="2216348"/>
            <a:ext cx="4814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1012" y="2216348"/>
            <a:ext cx="48311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26414" y="2664023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12122" y="2664023"/>
            <a:ext cx="4814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1012" y="2664023"/>
            <a:ext cx="48311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26414" y="3111698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12122" y="3111698"/>
            <a:ext cx="4814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1012" y="3111698"/>
            <a:ext cx="48311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26414" y="3559373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12122" y="3559373"/>
            <a:ext cx="4814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1012" y="3559373"/>
            <a:ext cx="48311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26414" y="4007048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12122" y="4007048"/>
            <a:ext cx="4814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1012" y="4007048"/>
            <a:ext cx="48311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639" y="1897260"/>
            <a:ext cx="17907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4097" y="1897260"/>
            <a:ext cx="156210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5689" y="2344935"/>
            <a:ext cx="34290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247" y="2344935"/>
            <a:ext cx="34290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6489" y="2792610"/>
            <a:ext cx="14859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7822" y="2792610"/>
            <a:ext cx="27051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3614" y="3240285"/>
            <a:ext cx="12573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3147" y="3240285"/>
            <a:ext cx="15621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78647" y="3687960"/>
            <a:ext cx="6477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54747" y="3687960"/>
            <a:ext cx="571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58042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58042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287660"/>
            <a:ext cx="5481637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0525" y="381000"/>
            <a:ext cx="751522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07. PILLAR IV - CODE IMPLEMENTATION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39960"/>
            <a:ext cx="10477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63075" y="6605587"/>
            <a:ext cx="23526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Abstraction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525" y="571500"/>
            <a:ext cx="7890986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تطبيق عملي: بناء العقود الهيكلية (Abstract Class Code)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8937" y="1544835"/>
            <a:ext cx="497562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هندسة التصميم والتجربة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3187" y="1887735"/>
            <a:ext cx="5024437" cy="57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الكلاس التجريدي يحوي حقل متغيّر حالة مشترك، ويوفر تنفيذًا جاهزًا لدالة القطع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3187" y="2558057"/>
            <a:ext cx="5024437" cy="546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يجبر الكلاس التجريدي الفئات التابعة على إعطاء تنفيذ خاص لدالة الاتصال حسب نوع قاعدة البيانات.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87125" y="1563885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2050" y="1887735"/>
            <a:ext cx="1571625" cy="25732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2950" y="2175271"/>
            <a:ext cx="1143000" cy="257323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1800" y="2817018"/>
            <a:ext cx="885825" cy="2573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8175" y="1363860"/>
            <a:ext cx="1666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DatabaseArchitecture.java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278135"/>
            <a:ext cx="3619500" cy="236160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278135"/>
            <a:ext cx="3619500" cy="236160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3619500" cy="23616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33925" y="381000"/>
            <a:ext cx="698182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08. ADVANCED TOPICS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9960"/>
            <a:ext cx="21907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63100" y="6605587"/>
            <a:ext cx="21526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3925" y="571500"/>
            <a:ext cx="7330916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علاقات الكائنات ودورة الحياة (Object Relationships)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0" y="1544835"/>
            <a:ext cx="2950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Association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375" y="1887735"/>
            <a:ext cx="31432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علاقة ارتباط عامة وشاملة بين كائنين منفصلين تماماً.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4375" y="2500907"/>
            <a:ext cx="3143250" cy="805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يمكن لكل كائن الوجود بصفة مستقلا تماماً عن الآخر دون أي تبعية في دورة الحياة (مثل: و 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0125" y="1544835"/>
            <a:ext cx="30003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4375" y="1887735"/>
            <a:ext cx="31432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علاقة احتواء ضعيفة التبعية من نوع (</a:t>
            </a:r>
            <a:r>
              <a:rPr b="1" sz="1275" i="0" u="none">
                <a:solidFill>
                  <a:srgbClr val="334155"/>
                </a:solidFill>
                <a:latin typeface="Tajawal"/>
              </a:rPr>
              <a:t>Weak HAS-A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4375" y="2500907"/>
            <a:ext cx="3143250" cy="805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الكائن المحتوى يستطيع الوجود بشكل مستقل حتى لو تم حذف أو إنهاء الكائن الحاوي له (مثل: و 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1544835"/>
            <a:ext cx="302037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1887735"/>
            <a:ext cx="31432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علاقة احتواء وظيفية قوية جداً من نوع (</a:t>
            </a:r>
            <a:r>
              <a:rPr b="1" sz="1275" i="0" u="none">
                <a:solidFill>
                  <a:srgbClr val="334155"/>
                </a:solidFill>
                <a:latin typeface="Tajawal"/>
              </a:rPr>
              <a:t>Strong HAS-A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2500907"/>
            <a:ext cx="3143250" cy="805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Tajawal"/>
              </a:rPr>
              <a:t>عمر الكائن الداخلي مرتبط كلياً بعمر الكائن الرئيسي، وتدمير الرئيسي يعنى تدمير التابع تلقائياً (مثل: و ).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9500" y="1563885"/>
            <a:ext cx="23812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3250" y="3018829"/>
            <a:ext cx="714375" cy="257323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2200" y="3018829"/>
            <a:ext cx="628650" cy="257323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7125" y="1563885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6075" y="3018829"/>
            <a:ext cx="971550" cy="257323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018829"/>
            <a:ext cx="714375" cy="257323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86175" y="1563885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86100" y="3018829"/>
            <a:ext cx="371475" cy="257323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05050" y="3018829"/>
            <a:ext cx="628650" cy="2573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278135"/>
            <a:ext cx="5500687" cy="242321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78135"/>
            <a:ext cx="5500687" cy="242321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3939480"/>
            <a:ext cx="5500687" cy="239464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939480"/>
            <a:ext cx="5500687" cy="239464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8875" y="381000"/>
            <a:ext cx="547687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09. DESIGN PRINCIPLES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39960"/>
            <a:ext cx="15049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01175" y="6605587"/>
            <a:ext cx="23145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SOLID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8875" y="571500"/>
            <a:ext cx="5750718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ارتباط مبادئ OOP بمبادئ SOLID العالمية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6037" y="1487685"/>
            <a:ext cx="5395674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- Single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6037" y="1859160"/>
            <a:ext cx="513873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Tajawal"/>
              </a:rPr>
              <a:t>يجب أن يمتلك الكلاس سبباً واحداً فقط للتعديل ().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1487685"/>
            <a:ext cx="5395674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- Open / 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1859160"/>
            <a:ext cx="513873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Tajawal"/>
              </a:rPr>
              <a:t>الكيانات البرمجية تكون مفتوحة للتوسعة () ومغلقة للتعديل ().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6037" y="4149030"/>
            <a:ext cx="5395674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- Liskov Substitution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6037" y="4520505"/>
            <a:ext cx="513873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Tajawal"/>
              </a:rPr>
              <a:t>يجب أن تكون الفئات الموروثة قابلة للاستبدال محل الفئات الأساسية دون كسر التطبيق.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4149030"/>
            <a:ext cx="5395674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Tajawal ExtraBold"/>
              </a:rPr>
              <a:t>- ISP &amp; Dependency Inversion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4520505"/>
            <a:ext cx="51387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Tajawal"/>
              </a:rPr>
              <a:t>فصل الواجهات الكبيرة والاعتماد على التجريد () بدلاً من التفاصيل الفعليّة.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5700" y="1487685"/>
            <a:ext cx="219075" cy="257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8975" y="1859160"/>
            <a:ext cx="1638300" cy="22919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6887" y="1487685"/>
            <a:ext cx="219075" cy="2571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05087" y="1859160"/>
            <a:ext cx="800100" cy="22919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7262" y="2116335"/>
            <a:ext cx="1028700" cy="22919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15700" y="4149030"/>
            <a:ext cx="219075" cy="2571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57787" y="4149030"/>
            <a:ext cx="638175" cy="2571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38362" y="4520505"/>
            <a:ext cx="1028700" cy="2291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278135"/>
            <a:ext cx="11239500" cy="50559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581775"/>
            <a:ext cx="3429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34125" y="381000"/>
            <a:ext cx="538162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563EB"/>
                </a:solidFill>
                <a:latin typeface="Tajawal ExtraBold"/>
              </a:rPr>
              <a:t>10. BEST PRACTICES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39960"/>
            <a:ext cx="16573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15475" y="6605587"/>
            <a:ext cx="22002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Tajawal Medium"/>
              </a:rPr>
              <a:t>Java OOP Masterclass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Tajawal Medium"/>
              </a:rPr>
              <a:t>Best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571500"/>
            <a:ext cx="5650706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Tajawal ExtraBold"/>
              </a:rPr>
              <a:t>أفضل الممارسات البرمجية في Java 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1544835"/>
            <a:ext cx="104965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Favor Composition Over Inheritance: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تفضيل التجميع والتركيب على الوراثة لتقليل التعقيد والتكيف المرن.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1918096"/>
            <a:ext cx="104965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Program to Interfaces, Not Implementations: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الاعتماد دائمًا على أنواع التجريد لضمان فك الارتباط التام.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2291357"/>
            <a:ext cx="104965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Encapsulate What Changes: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عزل الأجزاء المعرضة للتغيير المستمر داخل واجهات وتجريدات مستقلة.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2664618"/>
            <a:ext cx="10496550" cy="2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Minimize Mutability: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تقليل إمكانية تعديل الكائنات واستخدام الحقول الثابتة () لضمان الأمان أثناء البرمجة المتزامنة 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3066454"/>
            <a:ext cx="104965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Tajawal"/>
              </a:rPr>
              <a:t>Keep Classes Small &amp; Focused:</a:t>
            </a:r>
            <a:r>
              <a:rPr b="0" sz="1275" i="0" u="none">
                <a:solidFill>
                  <a:srgbClr val="334155"/>
                </a:solidFill>
                <a:latin typeface="Tajawal"/>
              </a:rPr>
              <a:t> كتابة كلاسات قصيرة تؤدي وظيفة واحدة ومحددة بدقة.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5" y="1563885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5" y="1937146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5" y="2310407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5" y="2683668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2664618"/>
            <a:ext cx="542925" cy="257323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7375" y="2664618"/>
            <a:ext cx="1228725" cy="257323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5" y="3085504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75597" y="2555825"/>
            <a:ext cx="644080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350" i="0" u="none">
                <a:solidFill>
                  <a:srgbClr val="FFFFFF"/>
                </a:solidFill>
                <a:latin typeface="Tajawal Black"/>
              </a:rPr>
              <a:t>شكراً لوقتكم واهتمامكم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28950" y="3413075"/>
            <a:ext cx="61341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Tajawal"/>
              </a:rPr>
              <a:t>ختام العرض التقديمي الشامل للبرمجة كائنية التوجه بلغة Java 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2675" y="6600825"/>
            <a:ext cx="17430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Tajawal Medium"/>
              </a:rPr>
              <a:t>Java Software Engineering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600825"/>
            <a:ext cx="685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Tajawal Medium"/>
              </a:rPr>
              <a:t>Slide 16 of 16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87" y="4229248"/>
            <a:ext cx="1905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0562" y="4205436"/>
            <a:ext cx="3524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8BDF8"/>
                </a:solidFill>
                <a:latin typeface="JetBrains Mono"/>
              </a:rPr>
              <a:t>JAVA OOP MASTERCLASS // READY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